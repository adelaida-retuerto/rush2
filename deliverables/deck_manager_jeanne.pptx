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analyse relançable pour un suivi mensuel (40 s)</a:t>
            </a:r>
          </a:p>
          <a:p>
            <a:r>
              <a:t>« Notre objectif était double : fiabiliser les ventes de la pharmacie,</a:t>
            </a:r>
          </a:p>
          <a:p>
            <a:r>
              <a:t>puis tester si on peut prévoir le mois suivant.</a:t>
            </a:r>
          </a:p>
          <a:p>
            <a:r>
              <a:t>Nous avons travaillé sur 8 groupes de médicaments et 68 mois complets,</a:t>
            </a:r>
          </a:p>
          <a:p>
            <a:r>
              <a:t>de février 2014 à septembre 2019 : ce sont des ventes historiques.</a:t>
            </a:r>
          </a:p>
          <a:p>
            <a:r>
              <a:t>Tout est produit par un programme qu'on relance à chaque export.</a:t>
            </a:r>
          </a:p>
          <a:p>
            <a:r>
              <a:t>Notre proposition : un suivi mensuel fondé sur des données contrôlées.</a:t>
            </a:r>
          </a:p>
          <a:p>
            <a:r>
              <a:t>La prévision y reste une aide à la décision, avec une précision</a:t>
            </a:r>
          </a:p>
          <a:p>
            <a:r>
              <a:t>qui varie selon les groupes. »</a:t>
            </a:r>
          </a:p>
          <a:p/>
          <a:p>
            <a:r>
              <a:t>*Transition :* « Avant de prévoir quoi que ce soit, il fallait pouvoir faire confiance aux chiffres.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Contrôler les données avant de conclure (50 s)</a:t>
            </a:r>
          </a:p>
          <a:p>
            <a:r>
              <a:t>« Un fichier lisible n'est pas forcément cohérent.</a:t>
            </a:r>
          </a:p>
          <a:p>
            <a:r>
              <a:t>En comparant les exports, nous avons trouvé 45 cellules en écart,</a:t>
            </a:r>
          </a:p>
          <a:p>
            <a:r>
              <a:t>réparties sur 31 des 70 mois exportés.</a:t>
            </a:r>
          </a:p>
          <a:p>
            <a:r>
              <a:t>Nous avons donc reconstruit les totaux mensuels à partir des ventes horaires,</a:t>
            </a:r>
          </a:p>
          <a:p>
            <a:r>
              <a:t>et documenté chaque écart.</a:t>
            </a:r>
          </a:p>
          <a:p>
            <a:r>
              <a:t>Deux mois sont incomplets, janvier 2014 et octobre 2019 :</a:t>
            </a:r>
          </a:p>
          <a:p>
            <a:r>
              <a:t>ils sont exclus de la prévision. Il reste 68 mois complets.</a:t>
            </a:r>
          </a:p>
          <a:p>
            <a:r>
              <a:t>Les pics sont signalés mais conservés, parce que ce sont de vraies ventes.</a:t>
            </a:r>
          </a:p>
          <a:p>
            <a:r>
              <a:t>Et nous gardons les données brutes pour pouvoir refaire les contrôles. »</a:t>
            </a:r>
          </a:p>
          <a:p/>
          <a:p>
            <a:r>
              <a:t>*Transition :* « Sur cette base propre, comment savoir si une prévision est bonne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Tester les prévisions sur des mois futurs simulés (60 s)</a:t>
            </a:r>
          </a:p>
          <a:p>
            <a:r>
              <a:t>« Nous avons simulé l'avenir : chaque prévision n'utilise que les ventes</a:t>
            </a:r>
          </a:p>
          <a:p>
            <a:r>
              <a:t>antérieures au mois prévu.</a:t>
            </a:r>
          </a:p>
          <a:p>
            <a:r>
              <a:t>Nous comparons cinq méthodes : trois références simples — le mois précédent,</a:t>
            </a:r>
          </a:p>
          <a:p>
            <a:r>
              <a:t>le même mois l'an dernier, la moyenne des trois derniers mois —</a:t>
            </a:r>
          </a:p>
          <a:p>
            <a:r>
              <a:t>et deux méthodes saisonnières : la moyenne du même mois sur deux ans,</a:t>
            </a:r>
          </a:p>
          <a:p>
            <a:r>
              <a:t>et Holt-Winters.</a:t>
            </a:r>
          </a:p>
          <a:p>
            <a:r>
              <a:t>La méthode est choisie sur une première année, d'octobre 2017 à septembre 2018,</a:t>
            </a:r>
          </a:p>
          <a:p>
            <a:r>
              <a:t>puis évaluée sur l'année suivante, jusqu'en septembre 2019.</a:t>
            </a:r>
          </a:p>
          <a:p>
            <a:r>
              <a:t>La mesure principale est la MAE : l'erreur moyenne, en quantités vendues.</a:t>
            </a:r>
          </a:p>
          <a:p>
            <a:r>
              <a:t>Point important : le choix initial et sa performance en validation restent distincts. »</a:t>
            </a:r>
          </a:p>
          <a:p/>
          <a:p>
            <a:r>
              <a:t>*Transition :* « Et le résultat dépend beaucoup du groupe.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 résultats différents selon les groupes (70 s)</a:t>
            </a:r>
          </a:p>
          <a:p>
            <a:r>
              <a:t>« Il n'y a pas de méthode gagnante pour tous les groupes.</a:t>
            </a:r>
          </a:p>
          <a:p>
            <a:r>
              <a:t>Pour N02BE, le paracétamol, Holt-Winters réduit l'erreur d'environ 49,9 %</a:t>
            </a:r>
          </a:p>
          <a:p>
            <a:r>
              <a:t>face à la référence simple.</a:t>
            </a:r>
          </a:p>
          <a:p>
            <a:r>
              <a:t>Cette réduction équivaut à environ 3,81 jours de ventes moyennes —</a:t>
            </a:r>
          </a:p>
          <a:p>
            <a:r>
              <a:t>c'est une façon de lire l'erreur, pas des jours de stock économisés :</a:t>
            </a:r>
          </a:p>
          <a:p>
            <a:r>
              <a:t>nous n'avons ni prix ni stock.</a:t>
            </a:r>
          </a:p>
          <a:p>
            <a:r>
              <a:t>Pour R06, les antihistaminiques, la moyenne saisonnière gagne environ 9,1 %,</a:t>
            </a:r>
          </a:p>
          <a:p>
            <a:r>
              <a:t>avec une erreur relative encore d'environ 23,8 %.</a:t>
            </a:r>
          </a:p>
          <a:p>
            <a:r>
              <a:t>Pour R03, l'asthme, Holt-Winters avait été sélectionné, mais il est</a:t>
            </a:r>
          </a:p>
          <a:p>
            <a:r>
              <a:t>moins précis en validation, d'environ 23,7 %. Nous recommandons donc</a:t>
            </a:r>
          </a:p>
          <a:p>
            <a:r>
              <a:t>un repli vers le mois précédent — décidé après validation, donc pas encore</a:t>
            </a:r>
          </a:p>
          <a:p>
            <a:r>
              <a:t>testé sur une période indépendante.</a:t>
            </a:r>
          </a:p>
          <a:p>
            <a:r>
              <a:t>Pour les cinq autres groupes, une référence simple est conservée,</a:t>
            </a:r>
          </a:p>
          <a:p>
            <a:r>
              <a:t>ce qui ne veut pas dire que leurs ventes sont imprévisibles.</a:t>
            </a:r>
          </a:p>
          <a:p>
            <a:r>
              <a:t>Nous montrons aussi les résultats défavorables. »</a:t>
            </a:r>
          </a:p>
          <a:p/>
          <a:p>
            <a:r>
              <a:t>*Transition :* « D'où notre proposition.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Proposer un suivi pilote et mesurer sa valeur (60 s)</a:t>
            </a:r>
          </a:p>
          <a:p>
            <a:r>
              <a:t>« Nous recommandons une mission pilote de suivi mensuel,</a:t>
            </a:r>
          </a:p>
          <a:p>
            <a:r>
              <a:t>avec une méthode par groupe et une décision d'achat validée par le pharmacien.</a:t>
            </a:r>
          </a:p>
          <a:p>
            <a:r>
              <a:t>Concrètement : relancer les contrôles et le classeur à chaque nouvel export —</a:t>
            </a:r>
          </a:p>
          <a:p>
            <a:r>
              <a:t>le classeur complet passe déjà 56 contrôles de conformité au modèle —</a:t>
            </a:r>
          </a:p>
          <a:p>
            <a:r>
              <a:t>puis suivre l'erreur sur les nouveaux mois.</a:t>
            </a:r>
          </a:p>
          <a:p>
            <a:r>
              <a:t>Il faut être clair sur les limites : l'analyse est exploratoire,</a:t>
            </a:r>
          </a:p>
          <a:p>
            <a:r>
              <a:t>avec seulement 12 mois de validation ; Holt-Winters est sensible</a:t>
            </a:r>
          </a:p>
          <a:p>
            <a:r>
              <a:t>aux arrondis numériques ; les fourchettes sont indicatives,</a:t>
            </a:r>
          </a:p>
          <a:p>
            <a:r>
              <a:t>sans garantie de couverture à 80 ou 90 %.</a:t>
            </a:r>
          </a:p>
          <a:p>
            <a:r>
              <a:t>Et nos ventes s'arrêtent en 2019 : le pilote doit tourner sur des exports récents.</a:t>
            </a:r>
          </a:p>
          <a:p>
            <a:r>
              <a:t>La prochaine étape est donc de mesurer l'utilité opérationnelle</a:t>
            </a:r>
          </a:p>
          <a:p>
            <a:r>
              <a:t>sur de nouvelles données, avant d'automatiser les commandes.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6868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29260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12"/>
              </a:lnSpc>
            </a:pPr>
            <a:r>
              <a:rPr sz="1050" b="0" i="0" spc="120">
                <a:solidFill>
                  <a:srgbClr val="1F3D3A"/>
                </a:solidFill>
                <a:latin typeface="Lato Black"/>
              </a:rPr>
              <a:t>MANAGER · MISSION PILOTE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155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sz="5000" b="1" i="0">
                <a:solidFill>
                  <a:srgbClr val="F7F4EE"/>
                </a:solidFill>
                <a:latin typeface="Playfair Display"/>
              </a:rPr>
              <a:t>Une analyse relançable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51560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sz="5000" b="1" i="1">
                <a:solidFill>
                  <a:srgbClr val="F7F4EE"/>
                </a:solidFill>
                <a:latin typeface="Playfair Display"/>
              </a:rPr>
              <a:t>pour un suivi mensuel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9601200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sz="1700" b="0" i="0">
                <a:solidFill>
                  <a:srgbClr val="DCE7E3"/>
                </a:solidFill>
                <a:latin typeface="Lato"/>
              </a:rPr>
              <a:t>Objectif : fiabiliser les ventes et tester leur prévisibilité.</a:t>
            </a:r>
          </a:p>
          <a:p>
            <a:pPr algn="l">
              <a:lnSpc>
                <a:spcPts val="2379"/>
              </a:lnSpc>
            </a:pPr>
            <a:r>
              <a:rPr sz="1700" b="0" i="0">
                <a:solidFill>
                  <a:srgbClr val="DCE7E3"/>
                </a:solidFill>
                <a:latin typeface="Lato"/>
              </a:rPr>
              <a:t>Proposition : une </a:t>
            </a:r>
            <a:r>
              <a:rPr sz="1700" b="1" i="0">
                <a:solidFill>
                  <a:srgbClr val="F7F4EE"/>
                </a:solidFill>
                <a:latin typeface="Lato"/>
              </a:rPr>
              <a:t>mission pilote de suivi mensuel</a:t>
            </a:r>
            <a:r>
              <a:rPr sz="1700" b="0" i="0">
                <a:solidFill>
                  <a:srgbClr val="DCE7E3"/>
                </a:solidFill>
                <a:latin typeface="Lato"/>
              </a:rPr>
              <a:t>, la prévision comme aide à la décision.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43400"/>
            <a:ext cx="3493008" cy="1188720"/>
          </a:xfrm>
          <a:prstGeom prst="roundRect">
            <a:avLst>
              <a:gd name="adj" fmla="val 6153"/>
            </a:avLst>
          </a:prstGeom>
          <a:solidFill>
            <a:srgbClr val="2A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343400"/>
            <a:ext cx="914400" cy="1188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4000"/>
              </a:lnSpc>
            </a:pPr>
            <a:r>
              <a:rPr sz="4000" b="1" i="0">
                <a:solidFill>
                  <a:srgbClr val="F7F4EE"/>
                </a:solidFill>
                <a:latin typeface="Playfair Display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343400"/>
            <a:ext cx="2194560" cy="1188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1" i="0">
                <a:solidFill>
                  <a:srgbClr val="F7F4EE"/>
                </a:solidFill>
                <a:latin typeface="Lato"/>
              </a:rPr>
              <a:t>groupes de médicaments</a:t>
            </a:r>
          </a:p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B9CCC7"/>
                </a:solidFill>
                <a:latin typeface="Lato"/>
              </a:rPr>
              <a:t>codes ATC suivis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4343400"/>
            <a:ext cx="3493008" cy="1188720"/>
          </a:xfrm>
          <a:prstGeom prst="roundRect">
            <a:avLst>
              <a:gd name="adj" fmla="val 6153"/>
            </a:avLst>
          </a:prstGeom>
          <a:solidFill>
            <a:srgbClr val="2A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4343400"/>
            <a:ext cx="914400" cy="1188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4000"/>
              </a:lnSpc>
            </a:pPr>
            <a:r>
              <a:rPr sz="4000" b="1" i="0">
                <a:solidFill>
                  <a:srgbClr val="F7F4EE"/>
                </a:solidFill>
                <a:latin typeface="Playfair Display"/>
              </a:rPr>
              <a:t>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8112" y="4343400"/>
            <a:ext cx="2194560" cy="1188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1" i="0">
                <a:solidFill>
                  <a:srgbClr val="F7F4EE"/>
                </a:solidFill>
                <a:latin typeface="Lato"/>
              </a:rPr>
              <a:t>mois complets analysés</a:t>
            </a:r>
          </a:p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B9CCC7"/>
                </a:solidFill>
                <a:latin typeface="Lato"/>
              </a:rPr>
              <a:t>févr. 2014 – sept. 2019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18704" y="4343400"/>
            <a:ext cx="3493008" cy="1188720"/>
          </a:xfrm>
          <a:prstGeom prst="roundRect">
            <a:avLst>
              <a:gd name="adj" fmla="val 6153"/>
            </a:avLst>
          </a:prstGeom>
          <a:solidFill>
            <a:srgbClr val="2A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7304" y="4343400"/>
            <a:ext cx="914400" cy="1188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4000"/>
              </a:lnSpc>
            </a:pPr>
            <a:r>
              <a:rPr sz="4000" b="1" i="0">
                <a:solidFill>
                  <a:srgbClr val="F7F4EE"/>
                </a:solidFill>
                <a:latin typeface="Playfair Display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4343400"/>
            <a:ext cx="2194560" cy="1188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22"/>
              </a:lnSpc>
            </a:pPr>
            <a:r>
              <a:rPr sz="1350" b="1" i="0">
                <a:solidFill>
                  <a:srgbClr val="F7F4EE"/>
                </a:solidFill>
                <a:latin typeface="Lato"/>
              </a:rPr>
              <a:t>programme relançable</a:t>
            </a:r>
          </a:p>
          <a:p>
            <a:pPr algn="l">
              <a:lnSpc>
                <a:spcPts val="1822"/>
              </a:lnSpc>
            </a:pPr>
            <a:r>
              <a:rPr sz="1350" b="0" i="0">
                <a:solidFill>
                  <a:srgbClr val="B9CCC7"/>
                </a:solidFill>
                <a:latin typeface="Lato"/>
              </a:rPr>
              <a:t>contrôles, analyses, classeur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0584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sz="1050" b="0" i="0">
                <a:solidFill>
                  <a:srgbClr val="B9CCC7"/>
                </a:solidFill>
                <a:latin typeface="Lato"/>
              </a:rPr>
              <a:t>Rush 2 · Analyse des ventes pharmaceutiques · Données de février 2014 à septembre 2019 · Octobre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533105" cy="146304"/>
          </a:xfrm>
          <a:prstGeom prst="rect">
            <a:avLst/>
          </a:prstGeom>
          <a:solidFill>
            <a:srgbClr val="D98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23961" y="6711696"/>
            <a:ext cx="1533105" cy="146304"/>
          </a:xfrm>
          <a:prstGeom prst="rect">
            <a:avLst/>
          </a:prstGeom>
          <a:solidFill>
            <a:srgbClr val="A9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47923" y="6711696"/>
            <a:ext cx="1533105" cy="146304"/>
          </a:xfrm>
          <a:prstGeom prst="rect">
            <a:avLst/>
          </a:prstGeom>
          <a:solidFill>
            <a:srgbClr val="D46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1885" y="6711696"/>
            <a:ext cx="1533105" cy="146304"/>
          </a:xfrm>
          <a:prstGeom prst="rect">
            <a:avLst/>
          </a:prstGeom>
          <a:solidFill>
            <a:srgbClr val="9E3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5847" y="6711696"/>
            <a:ext cx="1533105" cy="146304"/>
          </a:xfrm>
          <a:prstGeom prst="rect">
            <a:avLst/>
          </a:prstGeom>
          <a:solidFill>
            <a:srgbClr val="8B7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19809" y="6711696"/>
            <a:ext cx="1533105" cy="146304"/>
          </a:xfrm>
          <a:prstGeom prst="rect">
            <a:avLst/>
          </a:prstGeom>
          <a:solidFill>
            <a:srgbClr val="5A4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771" y="6711696"/>
            <a:ext cx="1533105" cy="146304"/>
          </a:xfrm>
          <a:prstGeom prst="rect">
            <a:avLst/>
          </a:prstGeom>
          <a:solidFill>
            <a:srgbClr val="3E8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67733" y="6711696"/>
            <a:ext cx="1533105" cy="146304"/>
          </a:xfrm>
          <a:prstGeom prst="rect">
            <a:avLst/>
          </a:prstGeom>
          <a:solidFill>
            <a:srgbClr val="86B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84048"/>
            <a:ext cx="2245766" cy="329184"/>
          </a:xfrm>
          <a:prstGeom prst="roundRect">
            <a:avLst>
              <a:gd name="adj" fmla="val 50000"/>
            </a:avLst>
          </a:prstGeom>
          <a:solidFill>
            <a:srgbClr val="1F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24576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12"/>
              </a:lnSpc>
            </a:pPr>
            <a:r>
              <a:rPr sz="1050" b="0" i="0" spc="120">
                <a:solidFill>
                  <a:srgbClr val="F7F4EE"/>
                </a:solidFill>
                <a:latin typeface="Lato Black"/>
              </a:rPr>
              <a:t>MANAGER · DATA &amp; SANTÉ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911535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sz="3100" b="1" i="0">
                <a:solidFill>
                  <a:srgbClr val="1F3D3A"/>
                </a:solidFill>
                <a:latin typeface="Playfair Display"/>
              </a:rPr>
              <a:t>Contrôler les données avant de conclure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>
                <a:solidFill>
                  <a:srgbClr val="2F6F6A"/>
                </a:solidFill>
                <a:latin typeface="Lato"/>
              </a:rPr>
              <a:t>Les totaux mensuels sont reconstruits depuis les ventes horaires ; chaque écart est documenté.</a:t>
            </a:r>
          </a:p>
        </p:txBody>
      </p:sp>
      <p:pic>
        <p:nvPicPr>
          <p:cNvPr id="6" name="Picture 5" descr="_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722376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2331720"/>
            <a:ext cx="3136392" cy="1463040"/>
          </a:xfrm>
          <a:prstGeom prst="roundRect">
            <a:avLst>
              <a:gd name="adj" fmla="val 4375"/>
            </a:avLst>
          </a:prstGeom>
          <a:solidFill>
            <a:srgbClr val="EE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56032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1" i="0">
                <a:solidFill>
                  <a:srgbClr val="1F3D3A"/>
                </a:solidFill>
                <a:latin typeface="Lato"/>
              </a:rPr>
              <a:t>Pics conservés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990087"/>
            <a:ext cx="274320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2B2B2B"/>
                </a:solidFill>
                <a:latin typeface="Lato"/>
              </a:rPr>
              <a:t>Signalés, pas supprimés :</a:t>
            </a:r>
          </a:p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2B2B2B"/>
                </a:solidFill>
                <a:latin typeface="Lato"/>
              </a:rPr>
              <a:t>ce sont de vraies ventes.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4114800"/>
            <a:ext cx="3136392" cy="1463040"/>
          </a:xfrm>
          <a:prstGeom prst="roundRect">
            <a:avLst>
              <a:gd name="adj" fmla="val 4375"/>
            </a:avLst>
          </a:prstGeom>
          <a:solidFill>
            <a:srgbClr val="EE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4343400"/>
            <a:ext cx="27432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1" i="0">
                <a:solidFill>
                  <a:srgbClr val="1F3D3A"/>
                </a:solidFill>
                <a:latin typeface="Lato"/>
              </a:rPr>
              <a:t>Données brutes gardées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4773168"/>
            <a:ext cx="274320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2B2B2B"/>
                </a:solidFill>
                <a:latin typeface="Lato"/>
              </a:rPr>
              <a:t>Les contrôles peuvent être</a:t>
            </a:r>
          </a:p>
          <a:p>
            <a:pPr algn="l">
              <a:lnSpc>
                <a:spcPts val="1820"/>
              </a:lnSpc>
            </a:pPr>
            <a:r>
              <a:rPr sz="1400" b="0" i="0">
                <a:solidFill>
                  <a:srgbClr val="2B2B2B"/>
                </a:solidFill>
                <a:latin typeface="Lato"/>
              </a:rPr>
              <a:t>refaits à chaque export.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72784"/>
            <a:ext cx="1036289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 i="0">
                <a:solidFill>
                  <a:srgbClr val="7A8A87"/>
                </a:solidFill>
                <a:latin typeface="Lato"/>
              </a:rPr>
              <a:t>Source : exports du client (ventes horaires et mensuelles), janvier 2014 – octobre 2019. Analyse historique : ces ventes ne reflètent pas l’activité actuelle.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0" i="0">
                <a:solidFill>
                  <a:srgbClr val="7A8A87"/>
                </a:solidFill>
                <a:latin typeface="Lato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84048"/>
            <a:ext cx="2245766" cy="329184"/>
          </a:xfrm>
          <a:prstGeom prst="roundRect">
            <a:avLst>
              <a:gd name="adj" fmla="val 50000"/>
            </a:avLst>
          </a:prstGeom>
          <a:solidFill>
            <a:srgbClr val="1F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24576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12"/>
              </a:lnSpc>
            </a:pPr>
            <a:r>
              <a:rPr sz="1050" b="0" i="0" spc="120">
                <a:solidFill>
                  <a:srgbClr val="F7F4EE"/>
                </a:solidFill>
                <a:latin typeface="Lato Black"/>
              </a:rPr>
              <a:t>MANAGER · DATA &amp; SANTÉ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911535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sz="3100" b="1" i="0">
                <a:solidFill>
                  <a:srgbClr val="1F3D3A"/>
                </a:solidFill>
                <a:latin typeface="Playfair Display"/>
              </a:rPr>
              <a:t>Tester les prévisions sur des mois futurs simulés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>
                <a:solidFill>
                  <a:srgbClr val="2F6F6A"/>
                </a:solidFill>
                <a:latin typeface="Lato"/>
              </a:rPr>
              <a:t>Chaque prévision n’utilise que les ventes antérieures au mois prévu.</a:t>
            </a:r>
          </a:p>
        </p:txBody>
      </p:sp>
      <p:pic>
        <p:nvPicPr>
          <p:cNvPr id="6" name="Picture 5" descr="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10911535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913632"/>
            <a:ext cx="1091153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0" i="0">
                <a:solidFill>
                  <a:srgbClr val="2B2B2B"/>
                </a:solidFill>
                <a:latin typeface="Lato"/>
              </a:rPr>
              <a:t>La méthode est </a:t>
            </a:r>
            <a:r>
              <a:rPr sz="1300" b="1" i="0">
                <a:solidFill>
                  <a:srgbClr val="1F3D3A"/>
                </a:solidFill>
                <a:latin typeface="Lato"/>
              </a:rPr>
              <a:t>choisie</a:t>
            </a:r>
            <a:r>
              <a:rPr sz="1300" b="0" i="0">
                <a:solidFill>
                  <a:srgbClr val="2B2B2B"/>
                </a:solidFill>
                <a:latin typeface="Lato"/>
              </a:rPr>
              <a:t> sur la période de sélection, puis sa performance est </a:t>
            </a:r>
            <a:r>
              <a:rPr sz="1300" b="1" i="0">
                <a:solidFill>
                  <a:srgbClr val="1F3D3A"/>
                </a:solidFill>
                <a:latin typeface="Lato"/>
              </a:rPr>
              <a:t>mesurée</a:t>
            </a:r>
            <a:r>
              <a:rPr sz="1300" b="0" i="0">
                <a:solidFill>
                  <a:srgbClr val="2B2B2B"/>
                </a:solidFill>
                <a:latin typeface="Lato"/>
              </a:rPr>
              <a:t> sur la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EE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99432"/>
            <a:ext cx="31089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sz="1150" b="0" i="0" spc="80">
                <a:solidFill>
                  <a:srgbClr val="2F6F6A"/>
                </a:solidFill>
                <a:latin typeface="Lato Black"/>
              </a:rPr>
              <a:t>3 RÉFÉRENCES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56048"/>
            <a:ext cx="315468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2"/>
              </a:lnSpc>
            </a:pPr>
            <a:r>
              <a:rPr sz="1350" b="0" i="0">
                <a:solidFill>
                  <a:srgbClr val="2B2B2B"/>
                </a:solidFill>
                <a:latin typeface="Lato"/>
              </a:rPr>
              <a:t>Mois précédent</a:t>
            </a:r>
          </a:p>
          <a:p>
            <a:pPr algn="l">
              <a:lnSpc>
                <a:spcPts val="1782"/>
              </a:lnSpc>
            </a:pPr>
            <a:r>
              <a:rPr sz="1350" b="0" i="0">
                <a:solidFill>
                  <a:srgbClr val="2B2B2B"/>
                </a:solidFill>
                <a:latin typeface="Lato"/>
              </a:rPr>
              <a:t>Même mois, année précédente</a:t>
            </a:r>
          </a:p>
          <a:p>
            <a:pPr algn="l">
              <a:lnSpc>
                <a:spcPts val="1782"/>
              </a:lnSpc>
            </a:pPr>
            <a:r>
              <a:rPr sz="1350" b="0" i="0">
                <a:solidFill>
                  <a:srgbClr val="2B2B2B"/>
                </a:solidFill>
                <a:latin typeface="Lato"/>
              </a:rPr>
              <a:t>Moyenne des 3 derniers mois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443484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EE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4599432"/>
            <a:ext cx="31089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sz="1150" b="0" i="0" spc="80">
                <a:solidFill>
                  <a:srgbClr val="2F6F6A"/>
                </a:solidFill>
                <a:latin typeface="Lato Black"/>
              </a:rPr>
              <a:t>2 MÉTHODES TESTÉES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4956048"/>
            <a:ext cx="315468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2"/>
              </a:lnSpc>
            </a:pPr>
            <a:r>
              <a:rPr sz="1350" b="0" i="0">
                <a:solidFill>
                  <a:srgbClr val="2B2B2B"/>
                </a:solidFill>
                <a:latin typeface="Lato"/>
              </a:rPr>
              <a:t>Moyenne du même mois sur 2 ans</a:t>
            </a:r>
          </a:p>
          <a:p>
            <a:pPr algn="l">
              <a:lnSpc>
                <a:spcPts val="1782"/>
              </a:lnSpc>
            </a:pPr>
            <a:r>
              <a:rPr sz="1350" b="0" i="0">
                <a:solidFill>
                  <a:srgbClr val="2B2B2B"/>
                </a:solidFill>
                <a:latin typeface="Lato"/>
              </a:rPr>
              <a:t>Holt-Winters (tendance amortie,</a:t>
            </a:r>
          </a:p>
          <a:p>
            <a:pPr algn="l">
              <a:lnSpc>
                <a:spcPts val="1782"/>
              </a:lnSpc>
            </a:pPr>
            <a:r>
              <a:rPr sz="1350" b="0" i="0">
                <a:solidFill>
                  <a:srgbClr val="2B2B2B"/>
                </a:solidFill>
                <a:latin typeface="Lato"/>
              </a:rPr>
              <a:t>saisonnalité annuelle)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434840"/>
            <a:ext cx="3502152" cy="1600200"/>
          </a:xfrm>
          <a:prstGeom prst="roundRect">
            <a:avLst>
              <a:gd name="adj" fmla="val 4000"/>
            </a:avLst>
          </a:prstGeom>
          <a:solidFill>
            <a:srgbClr val="EE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4599432"/>
            <a:ext cx="31089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sz="1150" b="0" i="0" spc="80">
                <a:solidFill>
                  <a:srgbClr val="2F6F6A"/>
                </a:solidFill>
                <a:latin typeface="Lato Black"/>
              </a:rPr>
              <a:t>MESURE : 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4956048"/>
            <a:ext cx="315468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82"/>
              </a:lnSpc>
            </a:pPr>
            <a:r>
              <a:rPr sz="1350" b="0" i="0">
                <a:solidFill>
                  <a:srgbClr val="2B2B2B"/>
                </a:solidFill>
                <a:latin typeface="Lato"/>
              </a:rPr>
              <a:t>Erreur moyenne absolue,</a:t>
            </a:r>
          </a:p>
          <a:p>
            <a:pPr algn="l">
              <a:lnSpc>
                <a:spcPts val="1782"/>
              </a:lnSpc>
            </a:pPr>
            <a:r>
              <a:rPr sz="1350" b="0" i="0">
                <a:solidFill>
                  <a:srgbClr val="2B2B2B"/>
                </a:solidFill>
                <a:latin typeface="Lato"/>
              </a:rPr>
              <a:t>en quantités vendues</a:t>
            </a:r>
          </a:p>
          <a:p>
            <a:pPr algn="l">
              <a:lnSpc>
                <a:spcPts val="1782"/>
              </a:lnSpc>
            </a:pPr>
            <a:r>
              <a:rPr sz="1350" b="0" i="0">
                <a:solidFill>
                  <a:srgbClr val="2B2B2B"/>
                </a:solidFill>
                <a:latin typeface="Lato"/>
              </a:rPr>
              <a:t>(unité du logiciel non documentée)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72784"/>
            <a:ext cx="1036289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 i="0">
                <a:solidFill>
                  <a:srgbClr val="7A8A87"/>
                </a:solidFill>
                <a:latin typeface="Lato"/>
              </a:rPr>
              <a:t>Holt-Winters utilise jusqu’à 36 mois d’historique. Mois prévu : octobre 2019 (données historiques).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0" i="0">
                <a:solidFill>
                  <a:srgbClr val="7A8A87"/>
                </a:solidFill>
                <a:latin typeface="Lato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84048"/>
            <a:ext cx="2245766" cy="329184"/>
          </a:xfrm>
          <a:prstGeom prst="roundRect">
            <a:avLst>
              <a:gd name="adj" fmla="val 50000"/>
            </a:avLst>
          </a:prstGeom>
          <a:solidFill>
            <a:srgbClr val="1F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24576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12"/>
              </a:lnSpc>
            </a:pPr>
            <a:r>
              <a:rPr sz="1050" b="0" i="0" spc="120">
                <a:solidFill>
                  <a:srgbClr val="F7F4EE"/>
                </a:solidFill>
                <a:latin typeface="Lato Black"/>
              </a:rPr>
              <a:t>MANAGER · DATA &amp; SANTÉ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911535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sz="3100" b="1" i="0">
                <a:solidFill>
                  <a:srgbClr val="1F3D3A"/>
                </a:solidFill>
                <a:latin typeface="Playfair Display"/>
              </a:rPr>
              <a:t>Des résultats différents selon les groupes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>
                <a:solidFill>
                  <a:srgbClr val="2F6F6A"/>
                </a:solidFill>
                <a:latin typeface="Lato"/>
              </a:rPr>
              <a:t>Baisse de l’erreur (MAE) de la méthode testée face à la référence simple, validation oct. 2018 – sept. 2019.</a:t>
            </a:r>
          </a:p>
        </p:txBody>
      </p:sp>
      <p:pic>
        <p:nvPicPr>
          <p:cNvPr id="6" name="Picture 5" descr="_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6949440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2286000"/>
            <a:ext cx="3657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sz="1150" b="0" i="0" spc="80">
                <a:solidFill>
                  <a:srgbClr val="2F6F6A"/>
                </a:solidFill>
                <a:latin typeface="Lato Black"/>
              </a:rPr>
              <a:t>ÉVALUÉ ≠ RECOMMANDÉ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2670048"/>
            <a:ext cx="1417320" cy="384048"/>
          </a:xfrm>
          <a:prstGeom prst="rect">
            <a:avLst/>
          </a:prstGeom>
          <a:solidFill>
            <a:srgbClr val="1F3D3A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2670048"/>
            <a:ext cx="127101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F7F4EE"/>
                </a:solidFill>
                <a:latin typeface="Lato"/>
              </a:rPr>
              <a:t>Groupe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670048"/>
            <a:ext cx="1188720" cy="384048"/>
          </a:xfrm>
          <a:prstGeom prst="rect">
            <a:avLst/>
          </a:prstGeom>
          <a:solidFill>
            <a:srgbClr val="1F3D3A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670048"/>
            <a:ext cx="104241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F7F4EE"/>
                </a:solidFill>
                <a:latin typeface="Lato"/>
              </a:rPr>
              <a:t>Évalué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2670048"/>
            <a:ext cx="1188720" cy="384048"/>
          </a:xfrm>
          <a:prstGeom prst="rect">
            <a:avLst/>
          </a:prstGeom>
          <a:solidFill>
            <a:srgbClr val="1F3D3A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670048"/>
            <a:ext cx="104241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F7F4EE"/>
                </a:solidFill>
                <a:latin typeface="Lato"/>
              </a:rPr>
              <a:t>Recommandé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3054096"/>
            <a:ext cx="14173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3054096"/>
            <a:ext cx="12710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2B2B2B"/>
                </a:solidFill>
                <a:latin typeface="Lato"/>
              </a:rPr>
              <a:t>N02BE</a:t>
            </a:r>
          </a:p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Paracétamol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054096"/>
            <a:ext cx="1188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3054096"/>
            <a:ext cx="10424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Holt-Winters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0" y="3054096"/>
            <a:ext cx="1188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0" y="3054096"/>
            <a:ext cx="10424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Holt-Winters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3657600"/>
            <a:ext cx="14173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19" y="3657600"/>
            <a:ext cx="12710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2B2B2B"/>
                </a:solidFill>
                <a:latin typeface="Lato"/>
              </a:rPr>
              <a:t>R06</a:t>
            </a:r>
          </a:p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Antihistaminiques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3657600"/>
            <a:ext cx="1188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657600"/>
            <a:ext cx="10424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Moyenne même</a:t>
            </a:r>
          </a:p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mois sur 2 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0" y="3657600"/>
            <a:ext cx="1188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3657600"/>
            <a:ext cx="10424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Moyenne même</a:t>
            </a:r>
          </a:p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mois sur 2 ans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4261104"/>
            <a:ext cx="14173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4261104"/>
            <a:ext cx="12710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2B2B2B"/>
                </a:solidFill>
                <a:latin typeface="Lato"/>
              </a:rPr>
              <a:t>R03</a:t>
            </a:r>
          </a:p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Asthme et BPCO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4261104"/>
            <a:ext cx="1188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4261104"/>
            <a:ext cx="10424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Holt-Winters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32720" y="4261104"/>
            <a:ext cx="1188720" cy="603504"/>
          </a:xfrm>
          <a:prstGeom prst="rect">
            <a:avLst/>
          </a:prstGeom>
          <a:solidFill>
            <a:srgbClr val="FBF3D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4261104"/>
            <a:ext cx="10424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1" i="0">
                <a:solidFill>
                  <a:srgbClr val="2B2B2B"/>
                </a:solidFill>
                <a:latin typeface="Lato"/>
              </a:rPr>
              <a:t>Mois précédent</a:t>
            </a:r>
          </a:p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(repli)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4864608"/>
            <a:ext cx="14173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19" y="4864608"/>
            <a:ext cx="12710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5 autres</a:t>
            </a:r>
          </a:p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groupes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4864608"/>
            <a:ext cx="1188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864608"/>
            <a:ext cx="10424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Référence</a:t>
            </a:r>
          </a:p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simple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32720" y="4864608"/>
            <a:ext cx="118872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DE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4864608"/>
            <a:ext cx="104241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Référence</a:t>
            </a:r>
          </a:p>
          <a:p>
            <a:pPr algn="l">
              <a:lnSpc>
                <a:spcPts val="1342"/>
              </a:lnSpc>
            </a:pPr>
            <a:r>
              <a:rPr sz="1100" b="0" i="0">
                <a:solidFill>
                  <a:srgbClr val="2B2B2B"/>
                </a:solidFill>
                <a:latin typeface="Lato"/>
              </a:rPr>
              <a:t>simple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5632704"/>
            <a:ext cx="36576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</a:pPr>
            <a:r>
              <a:rPr sz="1150" b="0" i="1">
                <a:solidFill>
                  <a:srgbClr val="2B2B2B"/>
                </a:solidFill>
                <a:latin typeface="Lato"/>
              </a:rPr>
              <a:t>Repli R03 décidé après validation :</a:t>
            </a:r>
          </a:p>
          <a:p>
            <a:pPr algn="l">
              <a:lnSpc>
                <a:spcPts val="1495"/>
              </a:lnSpc>
            </a:pPr>
            <a:r>
              <a:rPr sz="1150" b="0" i="1">
                <a:solidFill>
                  <a:srgbClr val="2B2B2B"/>
                </a:solidFill>
                <a:latin typeface="Lato"/>
              </a:rPr>
              <a:t>pas encore testé sur une période indépendante.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272784"/>
            <a:ext cx="1036289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 i="0">
                <a:solidFill>
                  <a:srgbClr val="7A8A87"/>
                </a:solidFill>
                <a:latin typeface="Lato"/>
              </a:rPr>
              <a:t>Gain = 1 − MAE méthode testée / MAE référence. N02BE : MAE 119,22 contre 237,85. Aucune économie de stock ni financière n’est chiffrée.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0" i="0">
                <a:solidFill>
                  <a:srgbClr val="7A8A87"/>
                </a:solidFill>
                <a:latin typeface="Lato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84048"/>
            <a:ext cx="2245766" cy="329184"/>
          </a:xfrm>
          <a:prstGeom prst="roundRect">
            <a:avLst>
              <a:gd name="adj" fmla="val 50000"/>
            </a:avLst>
          </a:prstGeom>
          <a:solidFill>
            <a:srgbClr val="1F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224576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12"/>
              </a:lnSpc>
            </a:pPr>
            <a:r>
              <a:rPr sz="1050" b="0" i="0" spc="120">
                <a:solidFill>
                  <a:srgbClr val="F7F4EE"/>
                </a:solidFill>
                <a:latin typeface="Lato Black"/>
              </a:rPr>
              <a:t>MANAGER · DATA &amp; SANTÉ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911535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72"/>
              </a:lnSpc>
            </a:pPr>
            <a:r>
              <a:rPr sz="3100" b="1" i="0">
                <a:solidFill>
                  <a:srgbClr val="1F3D3A"/>
                </a:solidFill>
                <a:latin typeface="Playfair Display"/>
              </a:rPr>
              <a:t>Proposer un suivi pilote et mesurer sa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>
                <a:solidFill>
                  <a:srgbClr val="2F6F6A"/>
                </a:solidFill>
                <a:latin typeface="Lato"/>
              </a:rPr>
              <a:t>La prévision reste une aide à la décision : le pharmacien valide les achats.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02152" cy="3703320"/>
          </a:xfrm>
          <a:prstGeom prst="roundRect">
            <a:avLst>
              <a:gd name="adj" fmla="val 1827"/>
            </a:avLst>
          </a:prstGeom>
          <a:solidFill>
            <a:srgbClr val="1F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sz="1150" b="0" i="0" spc="80">
                <a:solidFill>
                  <a:srgbClr val="F7F4EE"/>
                </a:solidFill>
                <a:latin typeface="Lato Black"/>
              </a:rPr>
              <a:t>RECOMMANDATION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1752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200" b="1" i="0">
                <a:solidFill>
                  <a:srgbClr val="F7F4EE"/>
                </a:solidFill>
                <a:latin typeface="Playfair Display"/>
              </a:rPr>
              <a:t>Mission pilote</a:t>
            </a:r>
          </a:p>
          <a:p>
            <a:pPr algn="l">
              <a:lnSpc>
                <a:spcPts val="2640"/>
              </a:lnSpc>
            </a:pPr>
            <a:r>
              <a:rPr sz="2200" b="1" i="0">
                <a:solidFill>
                  <a:srgbClr val="F7F4EE"/>
                </a:solidFill>
                <a:latin typeface="Playfair Display"/>
              </a:rPr>
              <a:t>de suivi mensuel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3017520" cy="1737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DCE7E3"/>
                </a:solidFill>
                <a:latin typeface="Lato"/>
              </a:rPr>
              <a:t>Une méthode par groupe :</a:t>
            </a:r>
          </a:p>
          <a:p>
            <a:pPr algn="l">
              <a:lnSpc>
                <a:spcPts val="1980"/>
              </a:lnSpc>
            </a:pPr>
            <a:r>
              <a:rPr sz="1500" b="1" i="0">
                <a:solidFill>
                  <a:srgbClr val="F7F4EE"/>
                </a:solidFill>
                <a:latin typeface="Lato"/>
              </a:rPr>
              <a:t>Holt-Winters</a:t>
            </a:r>
            <a:r>
              <a:rPr sz="1500" b="0" i="0">
                <a:solidFill>
                  <a:srgbClr val="DCE7E3"/>
                </a:solidFill>
                <a:latin typeface="Lato"/>
              </a:rPr>
              <a:t> pour N02BE,</a:t>
            </a:r>
          </a:p>
          <a:p>
            <a:pPr algn="l">
              <a:lnSpc>
                <a:spcPts val="1980"/>
              </a:lnSpc>
            </a:pPr>
            <a:r>
              <a:rPr sz="1500" b="1" i="0">
                <a:solidFill>
                  <a:srgbClr val="F7F4EE"/>
                </a:solidFill>
                <a:latin typeface="Lato"/>
              </a:rPr>
              <a:t>moyenne 2 ans</a:t>
            </a:r>
            <a:r>
              <a:rPr sz="1500" b="0" i="0">
                <a:solidFill>
                  <a:srgbClr val="DCE7E3"/>
                </a:solidFill>
                <a:latin typeface="Lato"/>
              </a:rPr>
              <a:t> pour R06,</a:t>
            </a:r>
          </a:p>
          <a:p>
            <a:pPr algn="l">
              <a:lnSpc>
                <a:spcPts val="1980"/>
              </a:lnSpc>
            </a:pPr>
            <a:r>
              <a:rPr sz="1500" b="1" i="0">
                <a:solidFill>
                  <a:srgbClr val="F7F4EE"/>
                </a:solidFill>
                <a:latin typeface="Lato"/>
              </a:rPr>
              <a:t>référence simple</a:t>
            </a:r>
            <a:r>
              <a:rPr sz="1500" b="0" i="0">
                <a:solidFill>
                  <a:srgbClr val="DCE7E3"/>
                </a:solidFill>
                <a:latin typeface="Lato"/>
              </a:rPr>
              <a:t> ailleurs.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286000"/>
            <a:ext cx="3502152" cy="3703320"/>
          </a:xfrm>
          <a:prstGeom prst="roundRect">
            <a:avLst>
              <a:gd name="adj" fmla="val 1827"/>
            </a:avLst>
          </a:prstGeom>
          <a:solidFill>
            <a:srgbClr val="EE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514600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sz="1150" b="0" i="0" spc="80">
                <a:solidFill>
                  <a:srgbClr val="2F6F6A"/>
                </a:solidFill>
                <a:latin typeface="Lato Black"/>
              </a:rPr>
              <a:t>PROCHAINES ÉTAPES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926080"/>
            <a:ext cx="3017520" cy="2834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sz="1500" b="1" i="0">
                <a:solidFill>
                  <a:srgbClr val="1F3D3A"/>
                </a:solidFill>
                <a:latin typeface="Lato"/>
              </a:rPr>
              <a:t>1.</a:t>
            </a:r>
            <a:r>
              <a:rPr sz="1500" b="0" i="0">
                <a:solidFill>
                  <a:srgbClr val="2B2B2B"/>
                </a:solidFill>
                <a:latin typeface="Lato"/>
              </a:rPr>
              <a:t> Relancer contrôles et</a:t>
            </a:r>
          </a:p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2B2B2B"/>
                </a:solidFill>
                <a:latin typeface="Lato"/>
              </a:rPr>
              <a:t>classeur à chaque export</a:t>
            </a:r>
          </a:p>
          <a:p>
            <a:pPr algn="l">
              <a:lnSpc>
                <a:spcPts val="990"/>
              </a:lnSpc>
            </a:pPr>
            <a:r>
              <a:rPr sz="600"/>
              <a:t/>
            </a:r>
          </a:p>
          <a:p>
            <a:pPr algn="l">
              <a:lnSpc>
                <a:spcPts val="1980"/>
              </a:lnSpc>
            </a:pPr>
            <a:r>
              <a:rPr sz="1500" b="1" i="0">
                <a:solidFill>
                  <a:srgbClr val="1F3D3A"/>
                </a:solidFill>
                <a:latin typeface="Lato"/>
              </a:rPr>
              <a:t>2.</a:t>
            </a:r>
            <a:r>
              <a:rPr sz="1500" b="0" i="0">
                <a:solidFill>
                  <a:srgbClr val="2B2B2B"/>
                </a:solidFill>
                <a:latin typeface="Lato"/>
              </a:rPr>
              <a:t> Suivre l’erreur sur les</a:t>
            </a:r>
          </a:p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2B2B2B"/>
                </a:solidFill>
                <a:latin typeface="Lato"/>
              </a:rPr>
              <a:t>nouveaux mois</a:t>
            </a:r>
          </a:p>
          <a:p>
            <a:pPr algn="l">
              <a:lnSpc>
                <a:spcPts val="990"/>
              </a:lnSpc>
            </a:pPr>
            <a:r>
              <a:rPr sz="600"/>
              <a:t/>
            </a:r>
          </a:p>
          <a:p>
            <a:pPr algn="l">
              <a:lnSpc>
                <a:spcPts val="1980"/>
              </a:lnSpc>
            </a:pPr>
            <a:r>
              <a:rPr sz="1500" b="1" i="0">
                <a:solidFill>
                  <a:srgbClr val="1F3D3A"/>
                </a:solidFill>
                <a:latin typeface="Lato"/>
              </a:rPr>
              <a:t>3.</a:t>
            </a:r>
            <a:r>
              <a:rPr sz="1500" b="0" i="0">
                <a:solidFill>
                  <a:srgbClr val="2B2B2B"/>
                </a:solidFill>
                <a:latin typeface="Lato"/>
              </a:rPr>
              <a:t> Mesurer l’utilité avant</a:t>
            </a:r>
          </a:p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2B2B2B"/>
                </a:solidFill>
                <a:latin typeface="Lato"/>
              </a:rPr>
              <a:t>d’automatiser les commandes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286000"/>
            <a:ext cx="3502152" cy="3703320"/>
          </a:xfrm>
          <a:prstGeom prst="roundRect">
            <a:avLst>
              <a:gd name="adj" fmla="val 1827"/>
            </a:avLst>
          </a:prstGeom>
          <a:solidFill>
            <a:srgbClr val="EE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514600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sz="1150" b="0" i="0" spc="80">
                <a:solidFill>
                  <a:srgbClr val="E0A526"/>
                </a:solidFill>
                <a:latin typeface="Lato Black"/>
              </a:rPr>
              <a:t>LIMITES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926080"/>
            <a:ext cx="3017520" cy="2834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2B2B2B"/>
                </a:solidFill>
                <a:latin typeface="Lato"/>
              </a:rPr>
              <a:t>Analyse </a:t>
            </a:r>
            <a:r>
              <a:rPr sz="1500" b="1" i="0">
                <a:solidFill>
                  <a:srgbClr val="1F3D3A"/>
                </a:solidFill>
                <a:latin typeface="Lato"/>
              </a:rPr>
              <a:t>exploratoire</a:t>
            </a:r>
            <a:r>
              <a:rPr sz="1500" b="0" i="0">
                <a:solidFill>
                  <a:srgbClr val="2B2B2B"/>
                </a:solidFill>
                <a:latin typeface="Lato"/>
              </a:rPr>
              <a:t> :</a:t>
            </a:r>
          </a:p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2B2B2B"/>
                </a:solidFill>
                <a:latin typeface="Lato"/>
              </a:rPr>
              <a:t>12 mois de validation</a:t>
            </a:r>
          </a:p>
          <a:p>
            <a:pPr algn="l">
              <a:lnSpc>
                <a:spcPts val="990"/>
              </a:lnSpc>
            </a:pPr>
            <a:r>
              <a:rPr sz="600"/>
              <a:t/>
            </a:r>
          </a:p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2B2B2B"/>
                </a:solidFill>
                <a:latin typeface="Lato"/>
              </a:rPr>
              <a:t>Holt-Winters sensible</a:t>
            </a:r>
          </a:p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2B2B2B"/>
                </a:solidFill>
                <a:latin typeface="Lato"/>
              </a:rPr>
              <a:t>aux arrondis numériques</a:t>
            </a:r>
          </a:p>
          <a:p>
            <a:pPr algn="l">
              <a:lnSpc>
                <a:spcPts val="990"/>
              </a:lnSpc>
            </a:pPr>
            <a:r>
              <a:rPr sz="600"/>
              <a:t/>
            </a:r>
          </a:p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2B2B2B"/>
                </a:solidFill>
                <a:latin typeface="Lato"/>
              </a:rPr>
              <a:t>Fourchettes </a:t>
            </a:r>
            <a:r>
              <a:rPr sz="1500" b="1" i="0">
                <a:solidFill>
                  <a:srgbClr val="1F3D3A"/>
                </a:solidFill>
                <a:latin typeface="Lato"/>
              </a:rPr>
              <a:t>indicatives</a:t>
            </a:r>
            <a:r>
              <a:rPr sz="1500" b="0" i="0">
                <a:solidFill>
                  <a:srgbClr val="2B2B2B"/>
                </a:solidFill>
                <a:latin typeface="Lato"/>
              </a:rPr>
              <a:t>,</a:t>
            </a:r>
          </a:p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2B2B2B"/>
                </a:solidFill>
                <a:latin typeface="Lato"/>
              </a:rPr>
              <a:t>sans couverture garantie</a:t>
            </a:r>
          </a:p>
          <a:p>
            <a:pPr algn="l">
              <a:lnSpc>
                <a:spcPts val="990"/>
              </a:lnSpc>
            </a:pPr>
            <a:r>
              <a:rPr sz="600"/>
              <a:t/>
            </a:r>
          </a:p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2B2B2B"/>
                </a:solidFill>
                <a:latin typeface="Lato"/>
              </a:rPr>
              <a:t>Ni prix ni stock :</a:t>
            </a:r>
          </a:p>
          <a:p>
            <a:pPr algn="l">
              <a:lnSpc>
                <a:spcPts val="1980"/>
              </a:lnSpc>
            </a:pPr>
            <a:r>
              <a:rPr sz="1500" b="0" i="0">
                <a:solidFill>
                  <a:srgbClr val="2B2B2B"/>
                </a:solidFill>
                <a:latin typeface="Lato"/>
              </a:rPr>
              <a:t>aucune économie chiffrée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72784"/>
            <a:ext cx="1036289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 i="0">
                <a:solidFill>
                  <a:srgbClr val="7A8A87"/>
                </a:solidFill>
                <a:latin typeface="Lato"/>
              </a:rPr>
              <a:t>Ventes historiques arrêtées en septembre 2019 : le pilote se fera sur des exports récents, avec suivi de l’erreur mois par mois.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272784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0" i="0">
                <a:solidFill>
                  <a:srgbClr val="7A8A87"/>
                </a:solidFill>
                <a:latin typeface="Lato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